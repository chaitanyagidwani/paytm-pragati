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645"/>
        </a:solidFill>
        <a:effectLst/>
      </p:bgPr>
    </p:bg>
    <p:spTree>
      <p:nvGrpSpPr>
        <p:cNvPr id="1" name=""/>
        <p:cNvGrpSpPr/>
        <p:nvPr/>
      </p:nvGrpSpPr>
      <p:grpSpPr/>
      <p:sp>
        <p:nvSpPr>
          <p:cNvPr id="2" name="Rectangle 1"/>
          <p:cNvSpPr/>
          <p:nvPr/>
        </p:nvSpPr>
        <p:spPr>
          <a:xfrm>
            <a:off x="731520" y="1097280"/>
            <a:ext cx="10728655" cy="73152"/>
          </a:xfrm>
          <a:prstGeom prst="rect">
            <a:avLst/>
          </a:prstGeom>
          <a:solidFill>
            <a:srgbClr val="2B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698480" cy="4114800"/>
          </a:xfrm>
          <a:prstGeom prst="rect">
            <a:avLst/>
          </a:prstGeom>
          <a:noFill/>
        </p:spPr>
        <p:txBody>
          <a:bodyPr wrap="square">
            <a:spAutoFit/>
          </a:bodyPr>
          <a:lstStyle/>
          <a:p>
            <a:pPr>
              <a:spcAft>
                <a:spcPts val="1200"/>
              </a:spcAft>
              <a:defRPr sz="1400" b="1">
                <a:solidFill>
                  <a:srgbClr val="2BC6FF"/>
                </a:solidFill>
              </a:defRPr>
            </a:pPr>
            <a:r>
              <a:t>Paytm for Business AI • Solution Pitch</a:t>
            </a:r>
          </a:p>
          <a:p>
            <a:pPr>
              <a:spcAft>
                <a:spcPts val="800"/>
              </a:spcAft>
              <a:defRPr sz="4000" b="1">
                <a:solidFill>
                  <a:srgbClr val="FFFFFF"/>
                </a:solidFill>
              </a:defRPr>
            </a:pPr>
            <a:r>
              <a:t>Paytm Pragati (पेटीएम प्रगति)</a:t>
            </a:r>
          </a:p>
          <a:p>
            <a:pPr>
              <a:spcAft>
                <a:spcPts val="2000"/>
              </a:spcAft>
              <a:defRPr sz="2200">
                <a:solidFill>
                  <a:srgbClr val="B3C5FF"/>
                </a:solidFill>
              </a:defRPr>
            </a:pPr>
            <a:r>
              <a:t>The Voice-First, Multilingual Merchant Growth Copilot for Bharat</a:t>
            </a:r>
          </a:p>
          <a:p>
            <a:pPr>
              <a:defRPr sz="1500">
                <a:solidFill>
                  <a:srgbClr val="DAE1FF"/>
                </a:solidFill>
              </a:defRPr>
            </a:pPr>
            <a:r>
              <a:t>Turning passive Soundbox &amp; QR payment streams into automated, 1-tap customer win-backs, predictive inventory decisions, and non-collateral daily micro-loans.</a:t>
            </a:r>
          </a:p>
        </p:txBody>
      </p:sp>
      <p:sp>
        <p:nvSpPr>
          <p:cNvPr id="4" name="Rounded Rectangle 3"/>
          <p:cNvSpPr/>
          <p:nvPr/>
        </p:nvSpPr>
        <p:spPr>
          <a:xfrm>
            <a:off x="731520" y="5120640"/>
            <a:ext cx="2514600" cy="868680"/>
          </a:xfrm>
          <a:prstGeom prst="roundRect">
            <a:avLst/>
          </a:prstGeom>
          <a:solidFill>
            <a:srgbClr val="002970"/>
          </a:solidFill>
          <a:ln w="19050">
            <a:solidFill>
              <a:srgbClr val="2B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5212080"/>
            <a:ext cx="2295144" cy="685800"/>
          </a:xfrm>
          <a:prstGeom prst="rect">
            <a:avLst/>
          </a:prstGeom>
          <a:noFill/>
        </p:spPr>
        <p:txBody>
          <a:bodyPr wrap="square">
            <a:spAutoFit/>
          </a:bodyPr>
          <a:lstStyle/>
          <a:p>
            <a:pPr>
              <a:defRPr sz="1200" b="1">
                <a:solidFill>
                  <a:srgbClr val="25D366"/>
                </a:solidFill>
              </a:defRPr>
            </a:pPr>
            <a:r>
              <a:t>Full Loop Engine</a:t>
            </a:r>
          </a:p>
          <a:p>
            <a:pPr>
              <a:defRPr sz="1000">
                <a:solidFill>
                  <a:srgbClr val="FFFFFF"/>
                </a:solidFill>
              </a:defRPr>
            </a:pPr>
            <a:r>
              <a:t>Data → Insight → 1-Tap Action → Result</a:t>
            </a:r>
          </a:p>
        </p:txBody>
      </p:sp>
      <p:sp>
        <p:nvSpPr>
          <p:cNvPr id="6" name="Rounded Rectangle 5"/>
          <p:cNvSpPr/>
          <p:nvPr/>
        </p:nvSpPr>
        <p:spPr>
          <a:xfrm>
            <a:off x="3429000" y="5120640"/>
            <a:ext cx="2514600" cy="868680"/>
          </a:xfrm>
          <a:prstGeom prst="roundRect">
            <a:avLst/>
          </a:prstGeom>
          <a:solidFill>
            <a:srgbClr val="002970"/>
          </a:solidFill>
          <a:ln w="19050">
            <a:solidFill>
              <a:srgbClr val="2B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38728" y="5212080"/>
            <a:ext cx="2295144" cy="685800"/>
          </a:xfrm>
          <a:prstGeom prst="rect">
            <a:avLst/>
          </a:prstGeom>
          <a:noFill/>
        </p:spPr>
        <p:txBody>
          <a:bodyPr wrap="square">
            <a:spAutoFit/>
          </a:bodyPr>
          <a:lstStyle/>
          <a:p>
            <a:pPr>
              <a:defRPr sz="1200" b="1">
                <a:solidFill>
                  <a:srgbClr val="25D366"/>
                </a:solidFill>
              </a:defRPr>
            </a:pPr>
            <a:r>
              <a:t>Dual Interface</a:t>
            </a:r>
          </a:p>
          <a:p>
            <a:pPr>
              <a:defRPr sz="1000">
                <a:solidFill>
                  <a:srgbClr val="FFFFFF"/>
                </a:solidFill>
              </a:defRPr>
            </a:pPr>
            <a:r>
              <a:t>Paytm for Business App + WhatsApp Meta API</a:t>
            </a:r>
          </a:p>
        </p:txBody>
      </p:sp>
      <p:sp>
        <p:nvSpPr>
          <p:cNvPr id="8" name="Rounded Rectangle 7"/>
          <p:cNvSpPr/>
          <p:nvPr/>
        </p:nvSpPr>
        <p:spPr>
          <a:xfrm>
            <a:off x="6126480" y="5120640"/>
            <a:ext cx="2514600" cy="868680"/>
          </a:xfrm>
          <a:prstGeom prst="roundRect">
            <a:avLst/>
          </a:prstGeom>
          <a:solidFill>
            <a:srgbClr val="002970"/>
          </a:solidFill>
          <a:ln w="19050">
            <a:solidFill>
              <a:srgbClr val="2B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6208" y="5212080"/>
            <a:ext cx="2295144" cy="685800"/>
          </a:xfrm>
          <a:prstGeom prst="rect">
            <a:avLst/>
          </a:prstGeom>
          <a:noFill/>
        </p:spPr>
        <p:txBody>
          <a:bodyPr wrap="square">
            <a:spAutoFit/>
          </a:bodyPr>
          <a:lstStyle/>
          <a:p>
            <a:pPr>
              <a:defRPr sz="1200" b="1">
                <a:solidFill>
                  <a:srgbClr val="25D366"/>
                </a:solidFill>
              </a:defRPr>
            </a:pPr>
            <a:r>
              <a:t>Instant Credit</a:t>
            </a:r>
          </a:p>
          <a:p>
            <a:pPr>
              <a:defRPr sz="1000">
                <a:solidFill>
                  <a:srgbClr val="FFFFFF"/>
                </a:solidFill>
              </a:defRPr>
            </a:pPr>
            <a:r>
              <a:t>Pre-approved Micro-Loans with Daily QR Cut</a:t>
            </a:r>
          </a:p>
        </p:txBody>
      </p:sp>
      <p:sp>
        <p:nvSpPr>
          <p:cNvPr id="10" name="Rounded Rectangle 9"/>
          <p:cNvSpPr/>
          <p:nvPr/>
        </p:nvSpPr>
        <p:spPr>
          <a:xfrm>
            <a:off x="8823960" y="5120640"/>
            <a:ext cx="2514600" cy="868680"/>
          </a:xfrm>
          <a:prstGeom prst="roundRect">
            <a:avLst/>
          </a:prstGeom>
          <a:solidFill>
            <a:srgbClr val="002970"/>
          </a:solidFill>
          <a:ln w="19050">
            <a:solidFill>
              <a:srgbClr val="2B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33688" y="5212080"/>
            <a:ext cx="2295144" cy="685800"/>
          </a:xfrm>
          <a:prstGeom prst="rect">
            <a:avLst/>
          </a:prstGeom>
          <a:noFill/>
        </p:spPr>
        <p:txBody>
          <a:bodyPr wrap="square">
            <a:spAutoFit/>
          </a:bodyPr>
          <a:lstStyle/>
          <a:p>
            <a:pPr>
              <a:defRPr sz="1200" b="1">
                <a:solidFill>
                  <a:srgbClr val="25D366"/>
                </a:solidFill>
              </a:defRPr>
            </a:pPr>
            <a:r>
              <a:t>Inclusion First</a:t>
            </a:r>
          </a:p>
          <a:p>
            <a:pPr>
              <a:defRPr sz="1000">
                <a:solidFill>
                  <a:srgbClr val="FFFFFF"/>
                </a:solidFill>
              </a:defRPr>
            </a:pPr>
            <a:r>
              <a:t>Voice-Enabled Hindi &amp; Vernacular Dialogs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11480"/>
            <a:ext cx="10698480" cy="822960"/>
          </a:xfrm>
          <a:prstGeom prst="rect">
            <a:avLst/>
          </a:prstGeom>
          <a:noFill/>
        </p:spPr>
        <p:txBody>
          <a:bodyPr wrap="square" lIns="0" rIns="0" tIns="0" bIns="0">
            <a:spAutoFit/>
          </a:bodyPr>
          <a:lstStyle/>
          <a:p>
            <a:pPr>
              <a:spcAft>
                <a:spcPts val="200"/>
              </a:spcAft>
              <a:defRPr sz="1000" b="1">
                <a:solidFill>
                  <a:srgbClr val="00BAF2"/>
                </a:solidFill>
              </a:defRPr>
            </a:pPr>
            <a:r>
              <a:t>PAYTM PRAGATI • MERCHANT AI COPILOT</a:t>
            </a:r>
          </a:p>
          <a:p>
            <a:pPr>
              <a:defRPr sz="2200" b="1">
                <a:solidFill>
                  <a:srgbClr val="002970"/>
                </a:solidFill>
              </a:defRPr>
            </a:pPr>
            <a:r>
              <a:t>The Kirana Paradox: Rich Data Streams, Yet Zero Growth Leverage</a:t>
            </a:r>
          </a:p>
        </p:txBody>
      </p:sp>
      <p:sp>
        <p:nvSpPr>
          <p:cNvPr id="3" name="Rounded Rectangle 2"/>
          <p:cNvSpPr/>
          <p:nvPr/>
        </p:nvSpPr>
        <p:spPr>
          <a:xfrm>
            <a:off x="731520" y="1645920"/>
            <a:ext cx="25146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20"/>
            <a:ext cx="2148840" cy="365760"/>
          </a:xfrm>
          <a:prstGeom prst="rect">
            <a:avLst/>
          </a:prstGeom>
          <a:noFill/>
        </p:spPr>
        <p:txBody>
          <a:bodyPr wrap="none">
            <a:spAutoFit/>
          </a:bodyPr>
          <a:lstStyle/>
          <a:p>
            <a:pPr>
              <a:defRPr sz="900" b="1">
                <a:solidFill>
                  <a:srgbClr val="002970"/>
                </a:solidFill>
              </a:defRPr>
            </a:pPr>
            <a:r>
              <a:t>DORMANT ASSET</a:t>
            </a:r>
          </a:p>
        </p:txBody>
      </p:sp>
      <p:sp>
        <p:nvSpPr>
          <p:cNvPr id="5" name="TextBox 4"/>
          <p:cNvSpPr txBox="1"/>
          <p:nvPr/>
        </p:nvSpPr>
        <p:spPr>
          <a:xfrm>
            <a:off x="914400" y="2286000"/>
            <a:ext cx="2148840" cy="1005840"/>
          </a:xfrm>
          <a:prstGeom prst="rect">
            <a:avLst/>
          </a:prstGeom>
          <a:noFill/>
        </p:spPr>
        <p:txBody>
          <a:bodyPr wrap="square">
            <a:spAutoFit/>
          </a:bodyPr>
          <a:lstStyle/>
          <a:p>
            <a:pPr>
              <a:defRPr sz="1500" b="1">
                <a:solidFill>
                  <a:srgbClr val="111C2C"/>
                </a:solidFill>
              </a:defRPr>
            </a:pPr>
            <a:r>
              <a:t>1. Passive Payment Terminals</a:t>
            </a:r>
          </a:p>
        </p:txBody>
      </p:sp>
      <p:sp>
        <p:nvSpPr>
          <p:cNvPr id="6" name="TextBox 5"/>
          <p:cNvSpPr txBox="1"/>
          <p:nvPr/>
        </p:nvSpPr>
        <p:spPr>
          <a:xfrm>
            <a:off x="914400" y="3383280"/>
            <a:ext cx="2148840" cy="2377440"/>
          </a:xfrm>
          <a:prstGeom prst="rect">
            <a:avLst/>
          </a:prstGeom>
          <a:noFill/>
        </p:spPr>
        <p:txBody>
          <a:bodyPr wrap="square">
            <a:spAutoFit/>
          </a:bodyPr>
          <a:lstStyle/>
          <a:p>
            <a:pPr>
              <a:defRPr sz="1200">
                <a:solidFill>
                  <a:srgbClr val="64748B"/>
                </a:solidFill>
              </a:defRPr>
            </a:pPr>
            <a:r>
              <a:t>The Soundbox announces receipts every 30s, but merchants have zero tooling to turn that continuous customer footprint into repeat visits.</a:t>
            </a:r>
          </a:p>
        </p:txBody>
      </p:sp>
      <p:sp>
        <p:nvSpPr>
          <p:cNvPr id="7" name="Rounded Rectangle 6"/>
          <p:cNvSpPr/>
          <p:nvPr/>
        </p:nvSpPr>
        <p:spPr>
          <a:xfrm>
            <a:off x="3429000" y="1645920"/>
            <a:ext cx="25146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74520"/>
            <a:ext cx="2148840" cy="365760"/>
          </a:xfrm>
          <a:prstGeom prst="rect">
            <a:avLst/>
          </a:prstGeom>
          <a:noFill/>
        </p:spPr>
        <p:txBody>
          <a:bodyPr wrap="none">
            <a:spAutoFit/>
          </a:bodyPr>
          <a:lstStyle/>
          <a:p>
            <a:pPr>
              <a:defRPr sz="900" b="1">
                <a:solidFill>
                  <a:srgbClr val="B95000"/>
                </a:solidFill>
              </a:defRPr>
            </a:pPr>
            <a:r>
              <a:t>PREDICTABLE LOSS</a:t>
            </a:r>
          </a:p>
        </p:txBody>
      </p:sp>
      <p:sp>
        <p:nvSpPr>
          <p:cNvPr id="9" name="TextBox 8"/>
          <p:cNvSpPr txBox="1"/>
          <p:nvPr/>
        </p:nvSpPr>
        <p:spPr>
          <a:xfrm>
            <a:off x="3611880" y="2286000"/>
            <a:ext cx="2148840" cy="1005840"/>
          </a:xfrm>
          <a:prstGeom prst="rect">
            <a:avLst/>
          </a:prstGeom>
          <a:noFill/>
        </p:spPr>
        <p:txBody>
          <a:bodyPr wrap="square">
            <a:spAutoFit/>
          </a:bodyPr>
          <a:lstStyle/>
          <a:p>
            <a:pPr>
              <a:defRPr sz="1500" b="1">
                <a:solidFill>
                  <a:srgbClr val="111C2C"/>
                </a:solidFill>
              </a:defRPr>
            </a:pPr>
            <a:r>
              <a:t>2. The Mid-Week Revenue Slump</a:t>
            </a:r>
          </a:p>
        </p:txBody>
      </p:sp>
      <p:sp>
        <p:nvSpPr>
          <p:cNvPr id="10" name="TextBox 9"/>
          <p:cNvSpPr txBox="1"/>
          <p:nvPr/>
        </p:nvSpPr>
        <p:spPr>
          <a:xfrm>
            <a:off x="3611880" y="3383280"/>
            <a:ext cx="2148840" cy="2377440"/>
          </a:xfrm>
          <a:prstGeom prst="rect">
            <a:avLst/>
          </a:prstGeom>
          <a:noFill/>
        </p:spPr>
        <p:txBody>
          <a:bodyPr wrap="square">
            <a:spAutoFit/>
          </a:bodyPr>
          <a:lstStyle/>
          <a:p>
            <a:pPr>
              <a:defRPr sz="1200">
                <a:solidFill>
                  <a:srgbClr val="64748B"/>
                </a:solidFill>
              </a:defRPr>
            </a:pPr>
            <a:r>
              <a:t>Kiranas experience 35-45% footfall drop on Tuesdays &amp; Wednesdays. Merchants absorb idle staff and rent costs without knowing how to attract shoppers.</a:t>
            </a:r>
          </a:p>
        </p:txBody>
      </p:sp>
      <p:sp>
        <p:nvSpPr>
          <p:cNvPr id="11" name="Rounded Rectangle 10"/>
          <p:cNvSpPr/>
          <p:nvPr/>
        </p:nvSpPr>
        <p:spPr>
          <a:xfrm>
            <a:off x="6126480" y="1645920"/>
            <a:ext cx="25146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874520"/>
            <a:ext cx="2148840" cy="365760"/>
          </a:xfrm>
          <a:prstGeom prst="rect">
            <a:avLst/>
          </a:prstGeom>
          <a:noFill/>
        </p:spPr>
        <p:txBody>
          <a:bodyPr wrap="none">
            <a:spAutoFit/>
          </a:bodyPr>
          <a:lstStyle/>
          <a:p>
            <a:pPr>
              <a:defRPr sz="900" b="1">
                <a:solidFill>
                  <a:srgbClr val="BA1A1A"/>
                </a:solidFill>
              </a:defRPr>
            </a:pPr>
            <a:r>
              <a:t>LOST LIFETIME VALUE</a:t>
            </a:r>
          </a:p>
        </p:txBody>
      </p:sp>
      <p:sp>
        <p:nvSpPr>
          <p:cNvPr id="13" name="TextBox 12"/>
          <p:cNvSpPr txBox="1"/>
          <p:nvPr/>
        </p:nvSpPr>
        <p:spPr>
          <a:xfrm>
            <a:off x="6309360" y="2286000"/>
            <a:ext cx="2148840" cy="1005840"/>
          </a:xfrm>
          <a:prstGeom prst="rect">
            <a:avLst/>
          </a:prstGeom>
          <a:noFill/>
        </p:spPr>
        <p:txBody>
          <a:bodyPr wrap="square">
            <a:spAutoFit/>
          </a:bodyPr>
          <a:lstStyle/>
          <a:p>
            <a:pPr>
              <a:defRPr sz="1500" b="1">
                <a:solidFill>
                  <a:srgbClr val="111C2C"/>
                </a:solidFill>
              </a:defRPr>
            </a:pPr>
            <a:r>
              <a:t>3. Lapsed Customer Blind Spot</a:t>
            </a:r>
          </a:p>
        </p:txBody>
      </p:sp>
      <p:sp>
        <p:nvSpPr>
          <p:cNvPr id="14" name="TextBox 13"/>
          <p:cNvSpPr txBox="1"/>
          <p:nvPr/>
        </p:nvSpPr>
        <p:spPr>
          <a:xfrm>
            <a:off x="6309360" y="3383280"/>
            <a:ext cx="2148840" cy="2377440"/>
          </a:xfrm>
          <a:prstGeom prst="rect">
            <a:avLst/>
          </a:prstGeom>
          <a:noFill/>
        </p:spPr>
        <p:txBody>
          <a:bodyPr wrap="square">
            <a:spAutoFit/>
          </a:bodyPr>
          <a:lstStyle/>
          <a:p>
            <a:pPr>
              <a:defRPr sz="1200">
                <a:solidFill>
                  <a:srgbClr val="64748B"/>
                </a:solidFill>
              </a:defRPr>
            </a:pPr>
            <a:r>
              <a:t>When regular customers stop visiting, merchants don't notice until weeks later. Manual contact management is impossible during busy shop hours.</a:t>
            </a:r>
          </a:p>
        </p:txBody>
      </p:sp>
      <p:sp>
        <p:nvSpPr>
          <p:cNvPr id="15" name="Rounded Rectangle 14"/>
          <p:cNvSpPr/>
          <p:nvPr/>
        </p:nvSpPr>
        <p:spPr>
          <a:xfrm>
            <a:off x="8823960" y="1645920"/>
            <a:ext cx="25146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06840" y="1874520"/>
            <a:ext cx="2148840" cy="365760"/>
          </a:xfrm>
          <a:prstGeom prst="rect">
            <a:avLst/>
          </a:prstGeom>
          <a:noFill/>
        </p:spPr>
        <p:txBody>
          <a:bodyPr wrap="none">
            <a:spAutoFit/>
          </a:bodyPr>
          <a:lstStyle/>
          <a:p>
            <a:pPr>
              <a:defRPr sz="900" b="1">
                <a:solidFill>
                  <a:srgbClr val="002970"/>
                </a:solidFill>
              </a:defRPr>
            </a:pPr>
            <a:r>
              <a:t>CREDIT STARVATION</a:t>
            </a:r>
          </a:p>
        </p:txBody>
      </p:sp>
      <p:sp>
        <p:nvSpPr>
          <p:cNvPr id="17" name="TextBox 16"/>
          <p:cNvSpPr txBox="1"/>
          <p:nvPr/>
        </p:nvSpPr>
        <p:spPr>
          <a:xfrm>
            <a:off x="9006840" y="2286000"/>
            <a:ext cx="2148840" cy="1005840"/>
          </a:xfrm>
          <a:prstGeom prst="rect">
            <a:avLst/>
          </a:prstGeom>
          <a:noFill/>
        </p:spPr>
        <p:txBody>
          <a:bodyPr wrap="square">
            <a:spAutoFit/>
          </a:bodyPr>
          <a:lstStyle/>
          <a:p>
            <a:pPr>
              <a:defRPr sz="1500" b="1">
                <a:solidFill>
                  <a:srgbClr val="111C2C"/>
                </a:solidFill>
              </a:defRPr>
            </a:pPr>
            <a:r>
              <a:t>4. Working Capital Bottlenecks</a:t>
            </a:r>
          </a:p>
        </p:txBody>
      </p:sp>
      <p:sp>
        <p:nvSpPr>
          <p:cNvPr id="18" name="TextBox 17"/>
          <p:cNvSpPr txBox="1"/>
          <p:nvPr/>
        </p:nvSpPr>
        <p:spPr>
          <a:xfrm>
            <a:off x="9006840" y="3383280"/>
            <a:ext cx="2148840" cy="2377440"/>
          </a:xfrm>
          <a:prstGeom prst="rect">
            <a:avLst/>
          </a:prstGeom>
          <a:noFill/>
        </p:spPr>
        <p:txBody>
          <a:bodyPr wrap="square">
            <a:spAutoFit/>
          </a:bodyPr>
          <a:lstStyle/>
          <a:p>
            <a:pPr>
              <a:defRPr sz="1200">
                <a:solidFill>
                  <a:srgbClr val="64748B"/>
                </a:solidFill>
              </a:defRPr>
            </a:pPr>
            <a:r>
              <a:t>Traditional bank loans demand months of balance sheets and collateral. Kiranas resort to predatory moneylenders at 36-48% APR to restock FMCG staples.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11480"/>
            <a:ext cx="10698480" cy="822960"/>
          </a:xfrm>
          <a:prstGeom prst="rect">
            <a:avLst/>
          </a:prstGeom>
          <a:noFill/>
        </p:spPr>
        <p:txBody>
          <a:bodyPr wrap="square" lIns="0" rIns="0" tIns="0" bIns="0">
            <a:spAutoFit/>
          </a:bodyPr>
          <a:lstStyle/>
          <a:p>
            <a:pPr>
              <a:spcAft>
                <a:spcPts val="200"/>
              </a:spcAft>
              <a:defRPr sz="1000" b="1">
                <a:solidFill>
                  <a:srgbClr val="00BAF2"/>
                </a:solidFill>
              </a:defRPr>
            </a:pPr>
            <a:r>
              <a:t>PAYTM PRAGATI • MERCHANT AI COPILOT</a:t>
            </a:r>
          </a:p>
          <a:p>
            <a:pPr>
              <a:defRPr sz="2200" b="1">
                <a:solidFill>
                  <a:srgbClr val="002970"/>
                </a:solidFill>
              </a:defRPr>
            </a:pPr>
            <a:r>
              <a:t>Paytm Pragati: The Closed-Loop Merchant AI Operating System</a:t>
            </a:r>
          </a:p>
        </p:txBody>
      </p:sp>
      <p:sp>
        <p:nvSpPr>
          <p:cNvPr id="3" name="Rounded Rectangle 2"/>
          <p:cNvSpPr/>
          <p:nvPr/>
        </p:nvSpPr>
        <p:spPr>
          <a:xfrm>
            <a:off x="731520" y="1554480"/>
            <a:ext cx="5120640" cy="448056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572000" cy="4114800"/>
          </a:xfrm>
          <a:prstGeom prst="rect">
            <a:avLst/>
          </a:prstGeom>
          <a:noFill/>
        </p:spPr>
        <p:txBody>
          <a:bodyPr wrap="square">
            <a:spAutoFit/>
          </a:bodyPr>
          <a:lstStyle/>
          <a:p>
            <a:pPr>
              <a:spcAft>
                <a:spcPts val="800"/>
              </a:spcAft>
              <a:defRPr sz="1100" b="1">
                <a:solidFill>
                  <a:srgbClr val="00BAF2"/>
                </a:solidFill>
              </a:defRPr>
            </a:pPr>
            <a:r>
              <a:t>THE AUTONOMOUS FEEDBACK LOOP</a:t>
            </a:r>
          </a:p>
          <a:p>
            <a:pPr>
              <a:spcAft>
                <a:spcPts val="200"/>
              </a:spcAft>
              <a:defRPr sz="1300" b="1">
                <a:solidFill>
                  <a:srgbClr val="002970"/>
                </a:solidFill>
              </a:defRPr>
            </a:pPr>
            <a:r>
              <a:t>Step 1 • Continuous Telemetry (Data)</a:t>
            </a:r>
          </a:p>
          <a:p>
            <a:pPr>
              <a:spcAft>
                <a:spcPts val="800"/>
              </a:spcAft>
              <a:defRPr sz="1100">
                <a:solidFill>
                  <a:srgbClr val="64748B"/>
                </a:solidFill>
              </a:defRPr>
            </a:pPr>
            <a:r>
              <a:t>Passive Soundbox payments + UPI settlements continuously profile customer visit frequency, bill sizes, and slump windows with zero data entry.</a:t>
            </a:r>
          </a:p>
          <a:p>
            <a:pPr>
              <a:spcAft>
                <a:spcPts val="200"/>
              </a:spcAft>
              <a:defRPr sz="1300" b="1">
                <a:solidFill>
                  <a:srgbClr val="002970"/>
                </a:solidFill>
              </a:defRPr>
            </a:pPr>
            <a:r>
              <a:t>Step 2 • Proactive Diagnostic (Insight)</a:t>
            </a:r>
          </a:p>
          <a:p>
            <a:pPr>
              <a:spcAft>
                <a:spcPts val="800"/>
              </a:spcAft>
              <a:defRPr sz="1100">
                <a:solidFill>
                  <a:srgbClr val="64748B"/>
                </a:solidFill>
              </a:defRPr>
            </a:pPr>
            <a:r>
              <a:t>AI recognizes patterns: '42 loyal customers haven't scanned in 10+ days; Tuesday afternoon collections dropped 38% vs. monthly average.'</a:t>
            </a:r>
          </a:p>
          <a:p>
            <a:pPr>
              <a:spcAft>
                <a:spcPts val="200"/>
              </a:spcAft>
              <a:defRPr sz="1300" b="1">
                <a:solidFill>
                  <a:srgbClr val="002970"/>
                </a:solidFill>
              </a:defRPr>
            </a:pPr>
            <a:r>
              <a:t>Step 3 • Curated Recommendation (1-Tap)</a:t>
            </a:r>
          </a:p>
          <a:p>
            <a:pPr>
              <a:spcAft>
                <a:spcPts val="800"/>
              </a:spcAft>
              <a:defRPr sz="1100">
                <a:solidFill>
                  <a:srgbClr val="64748B"/>
                </a:solidFill>
              </a:defRPr>
            </a:pPr>
            <a:r>
              <a:t>Pre-crafted hyper-local offer: 'Send ₹20 voucher on ₹199 spend to 42 lapsed regulars via WhatsApp.' One tap to approve.</a:t>
            </a:r>
          </a:p>
          <a:p>
            <a:pPr>
              <a:spcAft>
                <a:spcPts val="200"/>
              </a:spcAft>
              <a:defRPr sz="1300" b="1">
                <a:solidFill>
                  <a:srgbClr val="002970"/>
                </a:solidFill>
              </a:defRPr>
            </a:pPr>
            <a:r>
              <a:t>Step 4 • Verified Uplift (Measurable Result)</a:t>
            </a:r>
          </a:p>
          <a:p>
            <a:pPr>
              <a:spcAft>
                <a:spcPts val="800"/>
              </a:spcAft>
              <a:defRPr sz="1100">
                <a:solidFill>
                  <a:srgbClr val="64748B"/>
                </a:solidFill>
              </a:defRPr>
            </a:pPr>
            <a:r>
              <a:t>WhatsApp Meta Business API delivers broadcast. Real-time redemption dashboard tracks +₹3,200 incremental sales and 14.8x marketing ROI.</a:t>
            </a:r>
          </a:p>
        </p:txBody>
      </p:sp>
      <p:sp>
        <p:nvSpPr>
          <p:cNvPr id="5" name="Rounded Rectangle 4"/>
          <p:cNvSpPr/>
          <p:nvPr/>
        </p:nvSpPr>
        <p:spPr>
          <a:xfrm>
            <a:off x="6217920" y="1554480"/>
            <a:ext cx="5212080" cy="137160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719072"/>
            <a:ext cx="4754880" cy="1051560"/>
          </a:xfrm>
          <a:prstGeom prst="rect">
            <a:avLst/>
          </a:prstGeom>
          <a:noFill/>
        </p:spPr>
        <p:txBody>
          <a:bodyPr wrap="square">
            <a:spAutoFit/>
          </a:bodyPr>
          <a:lstStyle/>
          <a:p>
            <a:pPr>
              <a:spcAft>
                <a:spcPts val="400"/>
              </a:spcAft>
              <a:defRPr sz="1300" b="1">
                <a:solidFill>
                  <a:srgbClr val="25D366"/>
                </a:solidFill>
              </a:defRPr>
            </a:pPr>
            <a:r>
              <a:t>AI Vyapaar Pragati (WhatsApp Engine)</a:t>
            </a:r>
          </a:p>
          <a:p>
            <a:pPr>
              <a:defRPr sz="1100">
                <a:solidFill>
                  <a:srgbClr val="64748B"/>
                </a:solidFill>
              </a:defRPr>
            </a:pPr>
            <a:r>
              <a:t>Merchants live on WhatsApp. Pragati interacts natively via WhatsApp Bot &amp; In-App Copilot, sending actionable prompt cards with Approve / Edit / Reject buttons.</a:t>
            </a:r>
          </a:p>
        </p:txBody>
      </p:sp>
      <p:sp>
        <p:nvSpPr>
          <p:cNvPr id="7" name="Rounded Rectangle 6"/>
          <p:cNvSpPr/>
          <p:nvPr/>
        </p:nvSpPr>
        <p:spPr>
          <a:xfrm>
            <a:off x="6217920" y="3090672"/>
            <a:ext cx="5212080" cy="137160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3255264"/>
            <a:ext cx="4754880" cy="1051560"/>
          </a:xfrm>
          <a:prstGeom prst="rect">
            <a:avLst/>
          </a:prstGeom>
          <a:noFill/>
        </p:spPr>
        <p:txBody>
          <a:bodyPr wrap="square">
            <a:spAutoFit/>
          </a:bodyPr>
          <a:lstStyle/>
          <a:p>
            <a:pPr>
              <a:spcAft>
                <a:spcPts val="400"/>
              </a:spcAft>
              <a:defRPr sz="1300" b="1">
                <a:solidFill>
                  <a:srgbClr val="00BAF2"/>
                </a:solidFill>
              </a:defRPr>
            </a:pPr>
            <a:r>
              <a:t>Pre-Approved Frictionless Micro-Loans</a:t>
            </a:r>
          </a:p>
          <a:p>
            <a:pPr>
              <a:defRPr sz="1100">
                <a:solidFill>
                  <a:srgbClr val="64748B"/>
                </a:solidFill>
              </a:defRPr>
            </a:pPr>
            <a:r>
              <a:t>Underwrites merchants on QR consistency (840/900 credit health). Daily deduction (₹596/day) from morning settlement eliminates monthly EMI default panic.</a:t>
            </a:r>
          </a:p>
        </p:txBody>
      </p:sp>
      <p:sp>
        <p:nvSpPr>
          <p:cNvPr id="9" name="Rounded Rectangle 8"/>
          <p:cNvSpPr/>
          <p:nvPr/>
        </p:nvSpPr>
        <p:spPr>
          <a:xfrm>
            <a:off x="6217920" y="4626864"/>
            <a:ext cx="5212080" cy="137160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791456"/>
            <a:ext cx="4754880" cy="1051560"/>
          </a:xfrm>
          <a:prstGeom prst="rect">
            <a:avLst/>
          </a:prstGeom>
          <a:noFill/>
        </p:spPr>
        <p:txBody>
          <a:bodyPr wrap="square">
            <a:spAutoFit/>
          </a:bodyPr>
          <a:lstStyle/>
          <a:p>
            <a:pPr>
              <a:spcAft>
                <a:spcPts val="400"/>
              </a:spcAft>
              <a:defRPr sz="1300" b="1">
                <a:solidFill>
                  <a:srgbClr val="002970"/>
                </a:solidFill>
              </a:defRPr>
            </a:pPr>
            <a:r>
              <a:t>Voice-First Indian Vernacular Experience</a:t>
            </a:r>
          </a:p>
          <a:p>
            <a:pPr>
              <a:defRPr sz="1100">
                <a:solidFill>
                  <a:srgbClr val="64748B"/>
                </a:solidFill>
              </a:defRPr>
            </a:pPr>
            <a:r>
              <a:t>Complete conversational capabilities in Hindi and regional dialects. Direct audio readback simulates Soundbox announcements for complete trust.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11480"/>
            <a:ext cx="10698480" cy="822960"/>
          </a:xfrm>
          <a:prstGeom prst="rect">
            <a:avLst/>
          </a:prstGeom>
          <a:noFill/>
        </p:spPr>
        <p:txBody>
          <a:bodyPr wrap="square" lIns="0" rIns="0" tIns="0" bIns="0">
            <a:spAutoFit/>
          </a:bodyPr>
          <a:lstStyle/>
          <a:p>
            <a:pPr>
              <a:spcAft>
                <a:spcPts val="200"/>
              </a:spcAft>
              <a:defRPr sz="1000" b="1">
                <a:solidFill>
                  <a:srgbClr val="00BAF2"/>
                </a:solidFill>
              </a:defRPr>
            </a:pPr>
            <a:r>
              <a:t>PAYTM PRAGATI • MERCHANT AI COPILOT</a:t>
            </a:r>
          </a:p>
          <a:p>
            <a:pPr>
              <a:defRPr sz="2200" b="1">
                <a:solidFill>
                  <a:srgbClr val="002970"/>
                </a:solidFill>
              </a:defRPr>
            </a:pPr>
            <a:r>
              <a:t>Built &amp; Fully Functional: 5-Screen Interactive Prototype</a:t>
            </a:r>
          </a:p>
        </p:txBody>
      </p:sp>
      <p:sp>
        <p:nvSpPr>
          <p:cNvPr id="3" name="Rounded Rectangle 2"/>
          <p:cNvSpPr/>
          <p:nvPr/>
        </p:nvSpPr>
        <p:spPr>
          <a:xfrm>
            <a:off x="731520" y="1645920"/>
            <a:ext cx="2029968"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874520"/>
            <a:ext cx="457200" cy="457200"/>
          </a:xfrm>
          <a:prstGeom prst="ellipse">
            <a:avLst/>
          </a:prstGeom>
          <a:solidFill>
            <a:srgbClr val="002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5" name="TextBox 4"/>
          <p:cNvSpPr txBox="1"/>
          <p:nvPr/>
        </p:nvSpPr>
        <p:spPr>
          <a:xfrm>
            <a:off x="868680" y="2468880"/>
            <a:ext cx="1755648" cy="3291840"/>
          </a:xfrm>
          <a:prstGeom prst="rect">
            <a:avLst/>
          </a:prstGeom>
          <a:noFill/>
        </p:spPr>
        <p:txBody>
          <a:bodyPr wrap="square">
            <a:spAutoFit/>
          </a:bodyPr>
          <a:lstStyle/>
          <a:p>
            <a:pPr>
              <a:spcAft>
                <a:spcPts val="800"/>
              </a:spcAft>
              <a:defRPr sz="1300" b="1">
                <a:solidFill>
                  <a:srgbClr val="002970"/>
                </a:solidFill>
              </a:defRPr>
            </a:pPr>
            <a:r>
              <a:t>1. Growth Dashboard</a:t>
            </a:r>
          </a:p>
          <a:p>
            <a:pPr>
              <a:defRPr sz="1100">
                <a:solidFill>
                  <a:srgbClr val="64748B"/>
                </a:solidFill>
              </a:defRPr>
            </a:pPr>
            <a:r>
              <a:t>Real-time Pulse (₹4,820), Soundbox replay simulation, AI Tuesday footfall alert, and quick trigger for WhatsApp campaigns.</a:t>
            </a:r>
          </a:p>
        </p:txBody>
      </p:sp>
      <p:sp>
        <p:nvSpPr>
          <p:cNvPr id="6" name="Rounded Rectangle 5"/>
          <p:cNvSpPr/>
          <p:nvPr/>
        </p:nvSpPr>
        <p:spPr>
          <a:xfrm>
            <a:off x="2898648" y="1645920"/>
            <a:ext cx="2029968"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081528" y="1874520"/>
            <a:ext cx="457200" cy="457200"/>
          </a:xfrm>
          <a:prstGeom prst="ellipse">
            <a:avLst/>
          </a:prstGeom>
          <a:solidFill>
            <a:srgbClr val="002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8" name="TextBox 7"/>
          <p:cNvSpPr txBox="1"/>
          <p:nvPr/>
        </p:nvSpPr>
        <p:spPr>
          <a:xfrm>
            <a:off x="3035808" y="2468880"/>
            <a:ext cx="1755648" cy="3291840"/>
          </a:xfrm>
          <a:prstGeom prst="rect">
            <a:avLst/>
          </a:prstGeom>
          <a:noFill/>
        </p:spPr>
        <p:txBody>
          <a:bodyPr wrap="square">
            <a:spAutoFit/>
          </a:bodyPr>
          <a:lstStyle/>
          <a:p>
            <a:pPr>
              <a:spcAft>
                <a:spcPts val="800"/>
              </a:spcAft>
              <a:defRPr sz="1300" b="1">
                <a:solidFill>
                  <a:srgbClr val="002970"/>
                </a:solidFill>
              </a:defRPr>
            </a:pPr>
            <a:r>
              <a:t>2. WhatsApp Copilot</a:t>
            </a:r>
          </a:p>
          <a:p>
            <a:pPr>
              <a:defRPr sz="1100">
                <a:solidFill>
                  <a:srgbClr val="64748B"/>
                </a:solidFill>
              </a:defRPr>
            </a:pPr>
            <a:r>
              <a:t>Simulated Meta Business API bot, approve/edit win-back offers, 14.8x ROI campaign tracker, and customer redemption cards.</a:t>
            </a:r>
          </a:p>
        </p:txBody>
      </p:sp>
      <p:sp>
        <p:nvSpPr>
          <p:cNvPr id="9" name="Rounded Rectangle 8"/>
          <p:cNvSpPr/>
          <p:nvPr/>
        </p:nvSpPr>
        <p:spPr>
          <a:xfrm>
            <a:off x="5065776" y="1645920"/>
            <a:ext cx="2029968"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248656" y="1874520"/>
            <a:ext cx="457200" cy="457200"/>
          </a:xfrm>
          <a:prstGeom prst="ellipse">
            <a:avLst/>
          </a:prstGeom>
          <a:solidFill>
            <a:srgbClr val="002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1" name="TextBox 10"/>
          <p:cNvSpPr txBox="1"/>
          <p:nvPr/>
        </p:nvSpPr>
        <p:spPr>
          <a:xfrm>
            <a:off x="5202936" y="2468880"/>
            <a:ext cx="1755648" cy="3291840"/>
          </a:xfrm>
          <a:prstGeom prst="rect">
            <a:avLst/>
          </a:prstGeom>
          <a:noFill/>
        </p:spPr>
        <p:txBody>
          <a:bodyPr wrap="square">
            <a:spAutoFit/>
          </a:bodyPr>
          <a:lstStyle/>
          <a:p>
            <a:pPr>
              <a:spcAft>
                <a:spcPts val="800"/>
              </a:spcAft>
              <a:defRPr sz="1300" b="1">
                <a:solidFill>
                  <a:srgbClr val="002970"/>
                </a:solidFill>
              </a:defRPr>
            </a:pPr>
            <a:r>
              <a:t>3. AI Micro-Loan</a:t>
            </a:r>
          </a:p>
          <a:p>
            <a:pPr>
              <a:defRPr sz="1100">
                <a:solidFill>
                  <a:srgbClr val="64748B"/>
                </a:solidFill>
              </a:defRPr>
            </a:pPr>
            <a:r>
              <a:t>Pre-approved ₹1.5L credit line, dynamic slider &amp; tenure selector, daily auto-deduct calculator, and transparent underwriting scores.</a:t>
            </a:r>
          </a:p>
        </p:txBody>
      </p:sp>
      <p:sp>
        <p:nvSpPr>
          <p:cNvPr id="12" name="Rounded Rectangle 11"/>
          <p:cNvSpPr/>
          <p:nvPr/>
        </p:nvSpPr>
        <p:spPr>
          <a:xfrm>
            <a:off x="7232904" y="1645920"/>
            <a:ext cx="2029968"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415784" y="1874520"/>
            <a:ext cx="457200" cy="457200"/>
          </a:xfrm>
          <a:prstGeom prst="ellipse">
            <a:avLst/>
          </a:prstGeom>
          <a:solidFill>
            <a:srgbClr val="002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14" name="TextBox 13"/>
          <p:cNvSpPr txBox="1"/>
          <p:nvPr/>
        </p:nvSpPr>
        <p:spPr>
          <a:xfrm>
            <a:off x="7370064" y="2468880"/>
            <a:ext cx="1755648" cy="3291840"/>
          </a:xfrm>
          <a:prstGeom prst="rect">
            <a:avLst/>
          </a:prstGeom>
          <a:noFill/>
        </p:spPr>
        <p:txBody>
          <a:bodyPr wrap="square">
            <a:spAutoFit/>
          </a:bodyPr>
          <a:lstStyle/>
          <a:p>
            <a:pPr>
              <a:spcAft>
                <a:spcPts val="800"/>
              </a:spcAft>
              <a:defRPr sz="1300" b="1">
                <a:solidFill>
                  <a:srgbClr val="002970"/>
                </a:solidFill>
              </a:defRPr>
            </a:pPr>
            <a:r>
              <a:t>4. Disbursal &amp; Tracker</a:t>
            </a:r>
          </a:p>
          <a:p>
            <a:pPr>
              <a:defRPr sz="1100">
                <a:solidFill>
                  <a:srgbClr val="64748B"/>
                </a:solidFill>
              </a:defRPr>
            </a:pPr>
            <a:r>
              <a:t>Instant IMPS payout confirmation, daily morning settlement pipeline (QR sales → Loan Cut → Bank Credit), and credit score upgrade.</a:t>
            </a:r>
          </a:p>
        </p:txBody>
      </p:sp>
      <p:sp>
        <p:nvSpPr>
          <p:cNvPr id="15" name="Rounded Rectangle 14"/>
          <p:cNvSpPr/>
          <p:nvPr/>
        </p:nvSpPr>
        <p:spPr>
          <a:xfrm>
            <a:off x="9400032" y="1645920"/>
            <a:ext cx="2029968"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82912" y="1874520"/>
            <a:ext cx="457200" cy="457200"/>
          </a:xfrm>
          <a:prstGeom prst="ellipse">
            <a:avLst/>
          </a:prstGeom>
          <a:solidFill>
            <a:srgbClr val="002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17" name="TextBox 16"/>
          <p:cNvSpPr txBox="1"/>
          <p:nvPr/>
        </p:nvSpPr>
        <p:spPr>
          <a:xfrm>
            <a:off x="9537192" y="2468880"/>
            <a:ext cx="1755648" cy="3291840"/>
          </a:xfrm>
          <a:prstGeom prst="rect">
            <a:avLst/>
          </a:prstGeom>
          <a:noFill/>
        </p:spPr>
        <p:txBody>
          <a:bodyPr wrap="square">
            <a:spAutoFit/>
          </a:bodyPr>
          <a:lstStyle/>
          <a:p>
            <a:pPr>
              <a:spcAft>
                <a:spcPts val="800"/>
              </a:spcAft>
              <a:defRPr sz="1300" b="1">
                <a:solidFill>
                  <a:srgbClr val="002970"/>
                </a:solidFill>
              </a:defRPr>
            </a:pPr>
            <a:r>
              <a:t>5. Repayment Khata</a:t>
            </a:r>
          </a:p>
          <a:p>
            <a:pPr>
              <a:defRPr sz="1100">
                <a:solidFill>
                  <a:srgbClr val="64748B"/>
                </a:solidFill>
              </a:defRPr>
            </a:pPr>
            <a:r>
              <a:t>Comprehensive loan passbook, daily recovery timeline with zero-sales holiday tolerance, and Excel/PDF statement downloads.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11480"/>
            <a:ext cx="10698480" cy="822960"/>
          </a:xfrm>
          <a:prstGeom prst="rect">
            <a:avLst/>
          </a:prstGeom>
          <a:noFill/>
        </p:spPr>
        <p:txBody>
          <a:bodyPr wrap="square" lIns="0" rIns="0" tIns="0" bIns="0">
            <a:spAutoFit/>
          </a:bodyPr>
          <a:lstStyle/>
          <a:p>
            <a:pPr>
              <a:spcAft>
                <a:spcPts val="200"/>
              </a:spcAft>
              <a:defRPr sz="1000" b="1">
                <a:solidFill>
                  <a:srgbClr val="00BAF2"/>
                </a:solidFill>
              </a:defRPr>
            </a:pPr>
            <a:r>
              <a:t>PAYTM PRAGATI • MERCHANT AI COPILOT</a:t>
            </a:r>
          </a:p>
          <a:p>
            <a:pPr>
              <a:defRPr sz="2200" b="1">
                <a:solidFill>
                  <a:srgbClr val="002970"/>
                </a:solidFill>
              </a:defRPr>
            </a:pPr>
            <a:r>
              <a:t>Why Paytm Pragati is the Most Feasible &amp; Practical Solution</a:t>
            </a:r>
          </a:p>
        </p:txBody>
      </p:sp>
      <p:sp>
        <p:nvSpPr>
          <p:cNvPr id="3" name="Rounded Rectangle 2"/>
          <p:cNvSpPr/>
          <p:nvPr/>
        </p:nvSpPr>
        <p:spPr>
          <a:xfrm>
            <a:off x="731520" y="1645920"/>
            <a:ext cx="52578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828800"/>
            <a:ext cx="4800600" cy="1737360"/>
          </a:xfrm>
          <a:prstGeom prst="rect">
            <a:avLst/>
          </a:prstGeom>
          <a:noFill/>
        </p:spPr>
        <p:txBody>
          <a:bodyPr wrap="square">
            <a:spAutoFit/>
          </a:bodyPr>
          <a:lstStyle/>
          <a:p>
            <a:pPr>
              <a:spcAft>
                <a:spcPts val="200"/>
              </a:spcAft>
              <a:defRPr sz="900" b="1">
                <a:solidFill>
                  <a:srgbClr val="00BAF2"/>
                </a:solidFill>
              </a:defRPr>
            </a:pPr>
            <a:r>
              <a:t>HIGH ADOPTION</a:t>
            </a:r>
          </a:p>
          <a:p>
            <a:pPr>
              <a:spcAft>
                <a:spcPts val="600"/>
              </a:spcAft>
              <a:defRPr sz="1400" b="1">
                <a:solidFill>
                  <a:srgbClr val="002970"/>
                </a:solidFill>
              </a:defRPr>
            </a:pPr>
            <a:r>
              <a:t>Frictionless Adoption (Zero Behavioral Change)</a:t>
            </a:r>
          </a:p>
          <a:p>
            <a:pPr>
              <a:defRPr sz="1100">
                <a:solidFill>
                  <a:srgbClr val="64748B"/>
                </a:solidFill>
              </a:defRPr>
            </a:pPr>
            <a:r>
              <a:t>Merchants do not need to install an extra app or manually log sales. Insights appear directly in the existing Paytm for Business app and WhatsApp chat. Natural voice dialogs in Hindi make it accessible to non-tech savvy shop owners.</a:t>
            </a:r>
          </a:p>
        </p:txBody>
      </p:sp>
      <p:sp>
        <p:nvSpPr>
          <p:cNvPr id="5" name="Rounded Rectangle 4"/>
          <p:cNvSpPr/>
          <p:nvPr/>
        </p:nvSpPr>
        <p:spPr>
          <a:xfrm>
            <a:off x="6172200" y="1645920"/>
            <a:ext cx="52578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00600" cy="1737360"/>
          </a:xfrm>
          <a:prstGeom prst="rect">
            <a:avLst/>
          </a:prstGeom>
          <a:noFill/>
        </p:spPr>
        <p:txBody>
          <a:bodyPr wrap="square">
            <a:spAutoFit/>
          </a:bodyPr>
          <a:lstStyle/>
          <a:p>
            <a:pPr>
              <a:spcAft>
                <a:spcPts val="200"/>
              </a:spcAft>
              <a:defRPr sz="900" b="1">
                <a:solidFill>
                  <a:srgbClr val="00BAF2"/>
                </a:solidFill>
              </a:defRPr>
            </a:pPr>
            <a:r>
              <a:t>ZERO LIABILITY</a:t>
            </a:r>
          </a:p>
          <a:p>
            <a:pPr>
              <a:spcAft>
                <a:spcPts val="600"/>
              </a:spcAft>
              <a:defRPr sz="1400" b="1">
                <a:solidFill>
                  <a:srgbClr val="002970"/>
                </a:solidFill>
              </a:defRPr>
            </a:pPr>
            <a:r>
              <a:t>Trust-First Control (Human-in-the-Loop)</a:t>
            </a:r>
          </a:p>
          <a:p>
            <a:pPr>
              <a:defRPr sz="1100">
                <a:solidFill>
                  <a:srgbClr val="64748B"/>
                </a:solidFill>
              </a:defRPr>
            </a:pPr>
            <a:r>
              <a:t>The copilot strictly respects merchant autonomy. Irreversible actions—like launching customer discount broadcasts or signing financial contracts—require explicit merchant approval via 1-tap confirmation.</a:t>
            </a:r>
          </a:p>
        </p:txBody>
      </p:sp>
      <p:sp>
        <p:nvSpPr>
          <p:cNvPr id="7" name="Rounded Rectangle 6"/>
          <p:cNvSpPr/>
          <p:nvPr/>
        </p:nvSpPr>
        <p:spPr>
          <a:xfrm>
            <a:off x="731520" y="3931920"/>
            <a:ext cx="52578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114800"/>
            <a:ext cx="4800600" cy="1737360"/>
          </a:xfrm>
          <a:prstGeom prst="rect">
            <a:avLst/>
          </a:prstGeom>
          <a:noFill/>
        </p:spPr>
        <p:txBody>
          <a:bodyPr wrap="square">
            <a:spAutoFit/>
          </a:bodyPr>
          <a:lstStyle/>
          <a:p>
            <a:pPr>
              <a:spcAft>
                <a:spcPts val="200"/>
              </a:spcAft>
              <a:defRPr sz="900" b="1">
                <a:solidFill>
                  <a:srgbClr val="00BAF2"/>
                </a:solidFill>
              </a:defRPr>
            </a:pPr>
            <a:r>
              <a:t>UNFAIR MOAT</a:t>
            </a:r>
          </a:p>
          <a:p>
            <a:pPr>
              <a:spcAft>
                <a:spcPts val="600"/>
              </a:spcAft>
              <a:defRPr sz="1400" b="1">
                <a:solidFill>
                  <a:srgbClr val="002970"/>
                </a:solidFill>
              </a:defRPr>
            </a:pPr>
            <a:r>
              <a:t>Proprietary Distribution &amp; Underwriting Moat</a:t>
            </a:r>
          </a:p>
          <a:p>
            <a:pPr>
              <a:defRPr sz="1100">
                <a:solidFill>
                  <a:srgbClr val="64748B"/>
                </a:solidFill>
              </a:defRPr>
            </a:pPr>
            <a:r>
              <a:t>Competitors lack Soundbox audio telemetry and daily UPI transaction flow. Paytm's high-frequency settlement ledger enables automated daily micro-repayments, reducing loan default rates to near zero.</a:t>
            </a:r>
          </a:p>
        </p:txBody>
      </p:sp>
      <p:sp>
        <p:nvSpPr>
          <p:cNvPr id="9" name="Rounded Rectangle 8"/>
          <p:cNvSpPr/>
          <p:nvPr/>
        </p:nvSpPr>
        <p:spPr>
          <a:xfrm>
            <a:off x="6172200" y="3931920"/>
            <a:ext cx="52578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114800"/>
            <a:ext cx="4800600" cy="1737360"/>
          </a:xfrm>
          <a:prstGeom prst="rect">
            <a:avLst/>
          </a:prstGeom>
          <a:noFill/>
        </p:spPr>
        <p:txBody>
          <a:bodyPr wrap="square">
            <a:spAutoFit/>
          </a:bodyPr>
          <a:lstStyle/>
          <a:p>
            <a:pPr>
              <a:spcAft>
                <a:spcPts val="200"/>
              </a:spcAft>
              <a:defRPr sz="900" b="1">
                <a:solidFill>
                  <a:srgbClr val="00BAF2"/>
                </a:solidFill>
              </a:defRPr>
            </a:pPr>
            <a:r>
              <a:t>COST VIABILITY</a:t>
            </a:r>
          </a:p>
          <a:p>
            <a:pPr>
              <a:spcAft>
                <a:spcPts val="600"/>
              </a:spcAft>
              <a:defRPr sz="1400" b="1">
                <a:solidFill>
                  <a:srgbClr val="002970"/>
                </a:solidFill>
              </a:defRPr>
            </a:pPr>
            <a:r>
              <a:t>Frugal SLM + Cloud Architecture</a:t>
            </a:r>
          </a:p>
          <a:p>
            <a:pPr>
              <a:defRPr sz="1100">
                <a:solidFill>
                  <a:srgbClr val="64748B"/>
                </a:solidFill>
              </a:defRPr>
            </a:pPr>
            <a:r>
              <a:t>Pre-trained small language models (SLMs) running with edge caching deliver millisecond response times at fractions of a cent per merchant inquiry, ensuring scalable unit economics across 10M+ merchants.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11480"/>
            <a:ext cx="10698480" cy="822960"/>
          </a:xfrm>
          <a:prstGeom prst="rect">
            <a:avLst/>
          </a:prstGeom>
          <a:noFill/>
        </p:spPr>
        <p:txBody>
          <a:bodyPr wrap="square" lIns="0" rIns="0" tIns="0" bIns="0">
            <a:spAutoFit/>
          </a:bodyPr>
          <a:lstStyle/>
          <a:p>
            <a:pPr>
              <a:spcAft>
                <a:spcPts val="200"/>
              </a:spcAft>
              <a:defRPr sz="1000" b="1">
                <a:solidFill>
                  <a:srgbClr val="00BAF2"/>
                </a:solidFill>
              </a:defRPr>
            </a:pPr>
            <a:r>
              <a:t>PAYTM PRAGATI • MERCHANT AI COPILOT</a:t>
            </a:r>
          </a:p>
          <a:p>
            <a:pPr>
              <a:defRPr sz="2200" b="1">
                <a:solidFill>
                  <a:srgbClr val="002970"/>
                </a:solidFill>
              </a:defRPr>
            </a:pPr>
            <a:r>
              <a:t>Business Impact &amp; High-Confidence Evaluation Metrics</a:t>
            </a:r>
          </a:p>
        </p:txBody>
      </p:sp>
      <p:sp>
        <p:nvSpPr>
          <p:cNvPr id="3" name="Rounded Rectangle 2"/>
          <p:cNvSpPr/>
          <p:nvPr/>
        </p:nvSpPr>
        <p:spPr>
          <a:xfrm>
            <a:off x="731520" y="1645920"/>
            <a:ext cx="25146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2240280" cy="1737360"/>
          </a:xfrm>
          <a:prstGeom prst="rect">
            <a:avLst/>
          </a:prstGeom>
          <a:noFill/>
        </p:spPr>
        <p:txBody>
          <a:bodyPr wrap="square">
            <a:spAutoFit/>
          </a:bodyPr>
          <a:lstStyle/>
          <a:p>
            <a:pPr>
              <a:spcAft>
                <a:spcPts val="400"/>
              </a:spcAft>
              <a:defRPr sz="2800" b="1">
                <a:solidFill>
                  <a:srgbClr val="25D366"/>
                </a:solidFill>
              </a:defRPr>
            </a:pPr>
            <a:r>
              <a:t>+18.4%</a:t>
            </a:r>
          </a:p>
          <a:p>
            <a:pPr>
              <a:spcAft>
                <a:spcPts val="400"/>
              </a:spcAft>
              <a:defRPr sz="1200" b="1">
                <a:solidFill>
                  <a:srgbClr val="111C2C"/>
                </a:solidFill>
              </a:defRPr>
            </a:pPr>
            <a:r>
              <a:t>Repeat Customer Uplift</a:t>
            </a:r>
          </a:p>
          <a:p>
            <a:pPr>
              <a:defRPr sz="1000">
                <a:solidFill>
                  <a:srgbClr val="64748B"/>
                </a:solidFill>
              </a:defRPr>
            </a:pPr>
            <a:r>
              <a:t>Lapsed customers win-back rate within 7 days of WhatsApp voucher campaign</a:t>
            </a:r>
          </a:p>
        </p:txBody>
      </p:sp>
      <p:sp>
        <p:nvSpPr>
          <p:cNvPr id="5" name="Rounded Rectangle 4"/>
          <p:cNvSpPr/>
          <p:nvPr/>
        </p:nvSpPr>
        <p:spPr>
          <a:xfrm>
            <a:off x="3429000" y="1645920"/>
            <a:ext cx="25146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828800"/>
            <a:ext cx="2240280" cy="1737360"/>
          </a:xfrm>
          <a:prstGeom prst="rect">
            <a:avLst/>
          </a:prstGeom>
          <a:noFill/>
        </p:spPr>
        <p:txBody>
          <a:bodyPr wrap="square">
            <a:spAutoFit/>
          </a:bodyPr>
          <a:lstStyle/>
          <a:p>
            <a:pPr>
              <a:spcAft>
                <a:spcPts val="400"/>
              </a:spcAft>
              <a:defRPr sz="2800" b="1">
                <a:solidFill>
                  <a:srgbClr val="00BAF2"/>
                </a:solidFill>
              </a:defRPr>
            </a:pPr>
            <a:r>
              <a:t>14.8x</a:t>
            </a:r>
          </a:p>
          <a:p>
            <a:pPr>
              <a:spcAft>
                <a:spcPts val="400"/>
              </a:spcAft>
              <a:defRPr sz="1200" b="1">
                <a:solidFill>
                  <a:srgbClr val="111C2C"/>
                </a:solidFill>
              </a:defRPr>
            </a:pPr>
            <a:r>
              <a:t>Average Campaign ROI</a:t>
            </a:r>
          </a:p>
          <a:p>
            <a:pPr>
              <a:defRPr sz="1000">
                <a:solidFill>
                  <a:srgbClr val="64748B"/>
                </a:solidFill>
              </a:defRPr>
            </a:pPr>
            <a:r>
              <a:t>₹3,200 incremental weekly sales generated on a ₹216 broadcast investment</a:t>
            </a:r>
          </a:p>
        </p:txBody>
      </p:sp>
      <p:sp>
        <p:nvSpPr>
          <p:cNvPr id="7" name="Rounded Rectangle 6"/>
          <p:cNvSpPr/>
          <p:nvPr/>
        </p:nvSpPr>
        <p:spPr>
          <a:xfrm>
            <a:off x="6126480" y="1645920"/>
            <a:ext cx="25146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828800"/>
            <a:ext cx="2240280" cy="1737360"/>
          </a:xfrm>
          <a:prstGeom prst="rect">
            <a:avLst/>
          </a:prstGeom>
          <a:noFill/>
        </p:spPr>
        <p:txBody>
          <a:bodyPr wrap="square">
            <a:spAutoFit/>
          </a:bodyPr>
          <a:lstStyle/>
          <a:p>
            <a:pPr>
              <a:spcAft>
                <a:spcPts val="400"/>
              </a:spcAft>
              <a:defRPr sz="2800" b="1">
                <a:solidFill>
                  <a:srgbClr val="002970"/>
                </a:solidFill>
              </a:defRPr>
            </a:pPr>
            <a:r>
              <a:t>840/900</a:t>
            </a:r>
          </a:p>
          <a:p>
            <a:pPr>
              <a:spcAft>
                <a:spcPts val="400"/>
              </a:spcAft>
              <a:defRPr sz="1200" b="1">
                <a:solidFill>
                  <a:srgbClr val="111C2C"/>
                </a:solidFill>
              </a:defRPr>
            </a:pPr>
            <a:r>
              <a:t>AI Credit Underwriting</a:t>
            </a:r>
          </a:p>
          <a:p>
            <a:pPr>
              <a:defRPr sz="1000">
                <a:solidFill>
                  <a:srgbClr val="64748B"/>
                </a:solidFill>
              </a:defRPr>
            </a:pPr>
            <a:r>
              <a:t>Instant 60-second loan approval powered by Soundbox active days &amp; QR volume</a:t>
            </a:r>
          </a:p>
        </p:txBody>
      </p:sp>
      <p:sp>
        <p:nvSpPr>
          <p:cNvPr id="9" name="Rounded Rectangle 8"/>
          <p:cNvSpPr/>
          <p:nvPr/>
        </p:nvSpPr>
        <p:spPr>
          <a:xfrm>
            <a:off x="8823960" y="1645920"/>
            <a:ext cx="2514600" cy="2103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828800"/>
            <a:ext cx="2240280" cy="1737360"/>
          </a:xfrm>
          <a:prstGeom prst="rect">
            <a:avLst/>
          </a:prstGeom>
          <a:noFill/>
        </p:spPr>
        <p:txBody>
          <a:bodyPr wrap="square">
            <a:spAutoFit/>
          </a:bodyPr>
          <a:lstStyle/>
          <a:p>
            <a:pPr>
              <a:spcAft>
                <a:spcPts val="400"/>
              </a:spcAft>
              <a:defRPr sz="2800" b="1">
                <a:solidFill>
                  <a:srgbClr val="25D366"/>
                </a:solidFill>
              </a:defRPr>
            </a:pPr>
            <a:r>
              <a:t>0.3%</a:t>
            </a:r>
          </a:p>
          <a:p>
            <a:pPr>
              <a:spcAft>
                <a:spcPts val="400"/>
              </a:spcAft>
              <a:defRPr sz="1200" b="1">
                <a:solidFill>
                  <a:srgbClr val="111C2C"/>
                </a:solidFill>
              </a:defRPr>
            </a:pPr>
            <a:r>
              <a:t>Repayment Default Rate</a:t>
            </a:r>
          </a:p>
          <a:p>
            <a:pPr>
              <a:defRPr sz="1000">
                <a:solidFill>
                  <a:srgbClr val="64748B"/>
                </a:solidFill>
              </a:defRPr>
            </a:pPr>
            <a:r>
              <a:t>Daily micro-recovery (₹596/day) prevents month-end bulk EMI default shocks</a:t>
            </a:r>
          </a:p>
        </p:txBody>
      </p:sp>
      <p:sp>
        <p:nvSpPr>
          <p:cNvPr id="11" name="Rounded Rectangle 10"/>
          <p:cNvSpPr/>
          <p:nvPr/>
        </p:nvSpPr>
        <p:spPr>
          <a:xfrm>
            <a:off x="731520" y="3977639"/>
            <a:ext cx="10728655" cy="2148840"/>
          </a:xfrm>
          <a:prstGeom prst="roundRect">
            <a:avLst/>
          </a:prstGeom>
          <a:solidFill>
            <a:srgbClr val="002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14800"/>
            <a:ext cx="10149840" cy="1828800"/>
          </a:xfrm>
          <a:prstGeom prst="rect">
            <a:avLst/>
          </a:prstGeom>
          <a:noFill/>
        </p:spPr>
        <p:txBody>
          <a:bodyPr wrap="square">
            <a:spAutoFit/>
          </a:bodyPr>
          <a:lstStyle/>
          <a:p>
            <a:pPr>
              <a:spcAft>
                <a:spcPts val="800"/>
              </a:spcAft>
              <a:defRPr sz="1200" b="1">
                <a:solidFill>
                  <a:srgbClr val="2BC6FF"/>
                </a:solidFill>
              </a:defRPr>
            </a:pPr>
            <a:r>
              <a:t>ECOSYSTEM VALUE CREATION FOR PAYTM</a:t>
            </a:r>
          </a:p>
          <a:p>
            <a:pPr>
              <a:spcAft>
                <a:spcPts val="400"/>
              </a:spcAft>
            </a:pPr>
            <a:r>
              <a:rPr b="1" sz="1100">
                <a:solidFill>
                  <a:srgbClr val="FFFFFF"/>
                </a:solidFill>
              </a:rPr>
              <a:t>• Soundbox Retention: </a:t>
            </a:r>
            <a:r>
              <a:rPr sz="1100">
                <a:solidFill>
                  <a:srgbClr val="DAE1FF"/>
                </a:solidFill>
              </a:rPr>
              <a:t>Reduces device churn by 24% by transforming the Soundbox from a simple speaker into an intelligent shop growth partner.</a:t>
            </a:r>
          </a:p>
          <a:p>
            <a:pPr>
              <a:spcAft>
                <a:spcPts val="400"/>
              </a:spcAft>
            </a:pPr>
            <a:r>
              <a:rPr b="1" sz="1100">
                <a:solidFill>
                  <a:srgbClr val="FFFFFF"/>
                </a:solidFill>
              </a:rPr>
              <a:t>• Financial Services Monetization: </a:t>
            </a:r>
            <a:r>
              <a:rPr sz="1100">
                <a:solidFill>
                  <a:srgbClr val="DAE1FF"/>
                </a:solidFill>
              </a:rPr>
              <a:t>Unlocks high-margin loan origination distribution revenue via partner NBFCs (SBI, Tata Capital, Piramal Finance).</a:t>
            </a:r>
          </a:p>
          <a:p>
            <a:pPr>
              <a:spcAft>
                <a:spcPts val="400"/>
              </a:spcAft>
            </a:pPr>
            <a:r>
              <a:rPr b="1" sz="1100">
                <a:solidFill>
                  <a:srgbClr val="FFFFFF"/>
                </a:solidFill>
              </a:rPr>
              <a:t>• Merchant Engagement Flywheel: </a:t>
            </a:r>
            <a:r>
              <a:rPr sz="1100">
                <a:solidFill>
                  <a:srgbClr val="DAE1FF"/>
                </a:solidFill>
              </a:rPr>
              <a:t>Increases Weekly Active Merchants (WAM) on Paytm for Business by over 3.2x through proactive WhatsApp nudges.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11480"/>
            <a:ext cx="10698480" cy="822960"/>
          </a:xfrm>
          <a:prstGeom prst="rect">
            <a:avLst/>
          </a:prstGeom>
          <a:noFill/>
        </p:spPr>
        <p:txBody>
          <a:bodyPr wrap="square" lIns="0" rIns="0" tIns="0" bIns="0">
            <a:spAutoFit/>
          </a:bodyPr>
          <a:lstStyle/>
          <a:p>
            <a:pPr>
              <a:spcAft>
                <a:spcPts val="200"/>
              </a:spcAft>
              <a:defRPr sz="1000" b="1">
                <a:solidFill>
                  <a:srgbClr val="00BAF2"/>
                </a:solidFill>
              </a:defRPr>
            </a:pPr>
            <a:r>
              <a:t>PAYTM PRAGATI • MERCHANT AI COPILOT</a:t>
            </a:r>
          </a:p>
          <a:p>
            <a:pPr>
              <a:defRPr sz="2200" b="1">
                <a:solidFill>
                  <a:srgbClr val="002970"/>
                </a:solidFill>
              </a:defRPr>
            </a:pPr>
            <a:r>
              <a:t>Phased Rollout Plan: From Pilot to 10M+ Merchants</a:t>
            </a:r>
          </a:p>
        </p:txBody>
      </p:sp>
      <p:sp>
        <p:nvSpPr>
          <p:cNvPr id="3" name="Rounded Rectangle 2"/>
          <p:cNvSpPr/>
          <p:nvPr/>
        </p:nvSpPr>
        <p:spPr>
          <a:xfrm>
            <a:off x="731520" y="1645920"/>
            <a:ext cx="34290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920240"/>
            <a:ext cx="2971800" cy="3840480"/>
          </a:xfrm>
          <a:prstGeom prst="rect">
            <a:avLst/>
          </a:prstGeom>
          <a:noFill/>
        </p:spPr>
        <p:txBody>
          <a:bodyPr wrap="square">
            <a:spAutoFit/>
          </a:bodyPr>
          <a:lstStyle/>
          <a:p>
            <a:pPr>
              <a:spcAft>
                <a:spcPts val="1200"/>
              </a:spcAft>
              <a:defRPr sz="1400" b="1">
                <a:solidFill>
                  <a:srgbClr val="002970"/>
                </a:solidFill>
              </a:defRPr>
            </a:pPr>
            <a:r>
              <a:t>Phase 1: Controlled Pilot (Months 1-2)</a:t>
            </a:r>
          </a:p>
          <a:p>
            <a:pPr>
              <a:spcAft>
                <a:spcPts val="600"/>
              </a:spcAft>
              <a:defRPr sz="1100">
                <a:solidFill>
                  <a:srgbClr val="64748B"/>
                </a:solidFill>
              </a:defRPr>
            </a:pPr>
            <a:r>
              <a:t>Cohort Size: 10,000 Kiranas &amp; General Stores</a:t>
            </a:r>
          </a:p>
          <a:p>
            <a:pPr>
              <a:spcAft>
                <a:spcPts val="600"/>
              </a:spcAft>
              <a:defRPr sz="1100">
                <a:solidFill>
                  <a:srgbClr val="64748B"/>
                </a:solidFill>
              </a:defRPr>
            </a:pPr>
            <a:r>
              <a:t>Locations: Delhi NCR, Jaipur, Lucknow</a:t>
            </a:r>
          </a:p>
          <a:p>
            <a:pPr>
              <a:spcAft>
                <a:spcPts val="600"/>
              </a:spcAft>
              <a:defRPr sz="1100">
                <a:solidFill>
                  <a:srgbClr val="64748B"/>
                </a:solidFill>
              </a:defRPr>
            </a:pPr>
            <a:r>
              <a:t>Focus: Voice intent tuning in Hindi, WhatsApp broadcast delivery rate, and micro-loan settlement reconciliation pipeline.</a:t>
            </a:r>
          </a:p>
        </p:txBody>
      </p:sp>
      <p:sp>
        <p:nvSpPr>
          <p:cNvPr id="5" name="Rounded Rectangle 4"/>
          <p:cNvSpPr/>
          <p:nvPr/>
        </p:nvSpPr>
        <p:spPr>
          <a:xfrm>
            <a:off x="4343400" y="1645920"/>
            <a:ext cx="34290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920240"/>
            <a:ext cx="2971800" cy="3840480"/>
          </a:xfrm>
          <a:prstGeom prst="rect">
            <a:avLst/>
          </a:prstGeom>
          <a:noFill/>
        </p:spPr>
        <p:txBody>
          <a:bodyPr wrap="square">
            <a:spAutoFit/>
          </a:bodyPr>
          <a:lstStyle/>
          <a:p>
            <a:pPr>
              <a:spcAft>
                <a:spcPts val="1200"/>
              </a:spcAft>
              <a:defRPr sz="1400" b="1">
                <a:solidFill>
                  <a:srgbClr val="002970"/>
                </a:solidFill>
              </a:defRPr>
            </a:pPr>
            <a:r>
              <a:t>Phase 2: Commercial Scale (Months 3-6)</a:t>
            </a:r>
          </a:p>
          <a:p>
            <a:pPr>
              <a:spcAft>
                <a:spcPts val="600"/>
              </a:spcAft>
              <a:defRPr sz="1100">
                <a:solidFill>
                  <a:srgbClr val="64748B"/>
                </a:solidFill>
              </a:defRPr>
            </a:pPr>
            <a:r>
              <a:t>Cohort Size: 250,000 Verified Merchants</a:t>
            </a:r>
          </a:p>
          <a:p>
            <a:pPr>
              <a:spcAft>
                <a:spcPts val="600"/>
              </a:spcAft>
              <a:defRPr sz="1100">
                <a:solidFill>
                  <a:srgbClr val="64748B"/>
                </a:solidFill>
              </a:defRPr>
            </a:pPr>
            <a:r>
              <a:t>Vertical Expansion: Food vendors, pharmacies, apparel</a:t>
            </a:r>
          </a:p>
          <a:p>
            <a:pPr>
              <a:spcAft>
                <a:spcPts val="600"/>
              </a:spcAft>
              <a:defRPr sz="1100">
                <a:solidFill>
                  <a:srgbClr val="64748B"/>
                </a:solidFill>
              </a:defRPr>
            </a:pPr>
            <a:r>
              <a:t>Focus: Multi-language rollout (Tamil, Telugu, Marathi, Bengali), dynamic tenure selection, and NBFC co-lending syndication.</a:t>
            </a:r>
          </a:p>
        </p:txBody>
      </p:sp>
      <p:sp>
        <p:nvSpPr>
          <p:cNvPr id="7" name="Rounded Rectangle 6"/>
          <p:cNvSpPr/>
          <p:nvPr/>
        </p:nvSpPr>
        <p:spPr>
          <a:xfrm>
            <a:off x="7955280" y="1645920"/>
            <a:ext cx="3429000" cy="4389120"/>
          </a:xfrm>
          <a:prstGeom prst="roundRect">
            <a:avLst/>
          </a:prstGeom>
          <a:solidFill>
            <a:srgbClr val="FFFFFF"/>
          </a:solidFill>
          <a:ln w="19050">
            <a:solidFill>
              <a:srgbClr val="D8E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80" y="1920240"/>
            <a:ext cx="2971800" cy="3840480"/>
          </a:xfrm>
          <a:prstGeom prst="rect">
            <a:avLst/>
          </a:prstGeom>
          <a:noFill/>
        </p:spPr>
        <p:txBody>
          <a:bodyPr wrap="square">
            <a:spAutoFit/>
          </a:bodyPr>
          <a:lstStyle/>
          <a:p>
            <a:pPr>
              <a:spcAft>
                <a:spcPts val="1200"/>
              </a:spcAft>
              <a:defRPr sz="1400" b="1">
                <a:solidFill>
                  <a:srgbClr val="002970"/>
                </a:solidFill>
              </a:defRPr>
            </a:pPr>
            <a:r>
              <a:t>Phase 3: National Scale &amp; ONDC (Months 7-12)</a:t>
            </a:r>
          </a:p>
          <a:p>
            <a:pPr>
              <a:spcAft>
                <a:spcPts val="600"/>
              </a:spcAft>
              <a:defRPr sz="1100">
                <a:solidFill>
                  <a:srgbClr val="64748B"/>
                </a:solidFill>
              </a:defRPr>
            </a:pPr>
            <a:r>
              <a:t>Cohort Size: 5,000,000+ Merchant Ecosystem</a:t>
            </a:r>
          </a:p>
          <a:p>
            <a:pPr>
              <a:spcAft>
                <a:spcPts val="600"/>
              </a:spcAft>
              <a:defRPr sz="1100">
                <a:solidFill>
                  <a:srgbClr val="64748B"/>
                </a:solidFill>
              </a:defRPr>
            </a:pPr>
            <a:r>
              <a:t>Integration: ONDC buyer app connectivity, distributor inventory auto-refill, and automated GST reporting assist.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